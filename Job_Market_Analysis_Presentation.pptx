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6400800" cy="6400800"/>
          </a:xfrm>
          <a:prstGeom prst="ellipse">
            <a:avLst/>
          </a:prstGeom>
          <a:solidFill>
            <a:srgbClr val="2B3A67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4297680"/>
            <a:ext cx="4572000" cy="4572000"/>
          </a:xfrm>
          <a:prstGeom prst="ellipse">
            <a:avLst/>
          </a:prstGeom>
          <a:solidFill>
            <a:srgbClr val="3D5A8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PROFESSIONAL HIRING TRENDS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Market Analysis Dashboard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50292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0233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742 job openings across 19 states, analyzed by role, salary, industry, skills and education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using Microsoft Power BI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where the data-professional job market stands today.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453564" cy="1554480"/>
          </a:xfrm>
          <a:prstGeom prst="roundRect">
            <a:avLst>
              <a:gd name="adj" fmla="val 4706"/>
            </a:avLst>
          </a:prstGeom>
          <a:solidFill>
            <a:srgbClr val="F3F4F8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92542" y="1828800"/>
            <a:ext cx="548640" cy="548640"/>
          </a:xfrm>
          <a:prstGeom prst="ellipse">
            <a:avLst/>
          </a:prstGeom>
          <a:solidFill>
            <a:srgbClr val="2B3A67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4216" y="19604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468880"/>
            <a:ext cx="24535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742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2862072"/>
            <a:ext cx="24535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Job Openings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59404" y="1600200"/>
            <a:ext cx="2453564" cy="1554480"/>
          </a:xfrm>
          <a:prstGeom prst="roundRect">
            <a:avLst>
              <a:gd name="adj" fmla="val 4706"/>
            </a:avLst>
          </a:prstGeom>
          <a:solidFill>
            <a:srgbClr val="F3F4F8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11866" y="1828800"/>
            <a:ext cx="548640" cy="548640"/>
          </a:xfrm>
          <a:prstGeom prst="ellipse">
            <a:avLst/>
          </a:prstGeom>
          <a:solidFill>
            <a:srgbClr val="2B3A67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539" y="19604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59404" y="2468880"/>
            <a:ext cx="24535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$101.5K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459404" y="2862072"/>
            <a:ext cx="24535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78728" y="1600200"/>
            <a:ext cx="2453564" cy="1554480"/>
          </a:xfrm>
          <a:prstGeom prst="roundRect">
            <a:avLst>
              <a:gd name="adj" fmla="val 4706"/>
            </a:avLst>
          </a:prstGeom>
          <a:solidFill>
            <a:srgbClr val="F3F4F8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31190" y="1828800"/>
            <a:ext cx="548640" cy="548640"/>
          </a:xfrm>
          <a:prstGeom prst="ellipse">
            <a:avLst/>
          </a:prstGeom>
          <a:solidFill>
            <a:srgbClr val="2B3A67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863" y="196047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78728" y="2468880"/>
            <a:ext cx="24535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6278728" y="2862072"/>
            <a:ext cx="24535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Covered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98051" y="1600200"/>
            <a:ext cx="2453564" cy="1554480"/>
          </a:xfrm>
          <a:prstGeom prst="roundRect">
            <a:avLst>
              <a:gd name="adj" fmla="val 4706"/>
            </a:avLst>
          </a:prstGeom>
          <a:solidFill>
            <a:srgbClr val="F3F4F8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50513" y="1828800"/>
            <a:ext cx="548640" cy="548640"/>
          </a:xfrm>
          <a:prstGeom prst="ellipse">
            <a:avLst/>
          </a:prstGeom>
          <a:solidFill>
            <a:srgbClr val="2B3A67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2187" y="196047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98051" y="2468880"/>
            <a:ext cx="24535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313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9098051" y="2862072"/>
            <a:ext cx="24535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Roles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3520440"/>
            <a:ext cx="594360" cy="594360"/>
          </a:xfrm>
          <a:prstGeom prst="ellipse">
            <a:avLst/>
          </a:prstGeom>
          <a:solidFill>
            <a:srgbClr val="2B3A67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26" y="3663086"/>
            <a:ext cx="309067" cy="30906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0080" y="4251960"/>
            <a:ext cx="24535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Spread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640080" y="4727448"/>
            <a:ext cx="24535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openings and salary ranges compared across 19 U.S. states.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3459404" y="3520440"/>
            <a:ext cx="594360" cy="594360"/>
          </a:xfrm>
          <a:prstGeom prst="ellipse">
            <a:avLst/>
          </a:prstGeom>
          <a:solidFill>
            <a:srgbClr val="2B3A67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2050" y="3663086"/>
            <a:ext cx="309067" cy="309067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459404" y="4251960"/>
            <a:ext cx="24535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Mix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3459404" y="4727448"/>
            <a:ext cx="24535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Biotech &amp; Pharmaceuticals, Insurance, IT Services and more are hiring data talent.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6278728" y="3520440"/>
            <a:ext cx="594360" cy="594360"/>
          </a:xfrm>
          <a:prstGeom prst="ellipse">
            <a:avLst/>
          </a:prstGeom>
          <a:solidFill>
            <a:srgbClr val="3D5A80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1374" y="3663086"/>
            <a:ext cx="309067" cy="309067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278728" y="4251960"/>
            <a:ext cx="24535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in Demand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6278728" y="4727448"/>
            <a:ext cx="24535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SQL, Excel, AWS, Spark and Tableau usage compared across job roles.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9098051" y="3520440"/>
            <a:ext cx="594360" cy="594360"/>
          </a:xfrm>
          <a:prstGeom prst="ellipse">
            <a:avLst/>
          </a:prstGeom>
          <a:solidFill>
            <a:srgbClr val="3D5A80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0698" y="3663086"/>
            <a:ext cx="309067" cy="309067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098051" y="4251960"/>
            <a:ext cx="24535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&amp; Pay</a:t>
            </a:r>
            <a:endParaRPr lang="en-US" sz="1350" dirty="0"/>
          </a:p>
        </p:txBody>
      </p:sp>
      <p:sp>
        <p:nvSpPr>
          <p:cNvPr id="39" name="Text 29"/>
          <p:cNvSpPr/>
          <p:nvPr/>
        </p:nvSpPr>
        <p:spPr>
          <a:xfrm>
            <a:off x="9098051" y="4727448"/>
            <a:ext cx="24535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 compared across education levels and job titles.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1A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Roles, States &amp; Industries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by state, salary ranges, top job roles and industries hiring data professionals</a:t>
            </a:r>
            <a:endParaRPr lang="en-US" sz="1200" dirty="0"/>
          </a:p>
        </p:txBody>
      </p:sp>
      <p:pic>
        <p:nvPicPr>
          <p:cNvPr id="5" name="Image 0" descr="Dashboard_Page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8732520" cy="500522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02920" y="6331105"/>
            <a:ext cx="8732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Power BI dashboard, exported visuals.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9464040" y="1234440"/>
            <a:ext cx="2316175" cy="5005225"/>
          </a:xfrm>
          <a:prstGeom prst="roundRect">
            <a:avLst>
              <a:gd name="adj" fmla="val 3158"/>
            </a:avLst>
          </a:prstGeom>
          <a:solidFill>
            <a:srgbClr val="F3F4F8"/>
          </a:solidFill>
          <a:ln/>
        </p:spPr>
      </p:sp>
      <p:sp>
        <p:nvSpPr>
          <p:cNvPr id="8" name="Text 5"/>
          <p:cNvSpPr/>
          <p:nvPr/>
        </p:nvSpPr>
        <p:spPr>
          <a:xfrm>
            <a:off x="9692640" y="1417320"/>
            <a:ext cx="1858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692640" y="1828800"/>
            <a:ext cx="1858975" cy="42279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●"/>
            </a:pPr>
            <a:r>
              <a:rPr lang="en-US" sz="10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leads job volume by a wide margin, followed by Massachusetts and New York.</a:t>
            </a:r>
            <a:endParaRPr lang="en-US" sz="1050" dirty="0"/>
          </a:p>
          <a:p>
            <a:pPr marL="342900" indent="-342900">
              <a:lnSpc>
                <a:spcPct val="122000"/>
              </a:lnSpc>
              <a:buSzPct val="100000"/>
              <a:buChar char="●"/>
            </a:pPr>
            <a:r>
              <a:rPr lang="en-US" sz="10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ranges widen in higher-cost states like CA, MA and NY.</a:t>
            </a:r>
            <a:endParaRPr lang="en-US" sz="1050" dirty="0"/>
          </a:p>
          <a:p>
            <a:pPr marL="342900" indent="-342900">
              <a:lnSpc>
                <a:spcPct val="122000"/>
              </a:lnSpc>
              <a:buSzPct val="100000"/>
              <a:buChar char="●"/>
            </a:pPr>
            <a:r>
              <a:rPr lang="en-US" sz="10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is the most in-demand role with 313 openings, well ahead of Other Scientist (143) and Data Engineer (119).</a:t>
            </a:r>
            <a:endParaRPr lang="en-US" sz="1050" dirty="0"/>
          </a:p>
          <a:p>
            <a:pPr marL="342900" indent="-342900">
              <a:lnSpc>
                <a:spcPct val="122000"/>
              </a:lnSpc>
              <a:buSzPct val="100000"/>
              <a:buChar char="●"/>
            </a:pPr>
            <a:r>
              <a:rPr lang="en-US" sz="10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Biotech &amp; Pharmaceuticals is the top hiring industry at roughly 15% of openings, followed by Insurance Carriers and Computer Hardware.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1A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Companies, Skills &amp; Education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hiring companies, in-demand skills, and how education level relates to salary</a:t>
            </a:r>
            <a:endParaRPr lang="en-US" sz="1200" dirty="0"/>
          </a:p>
        </p:txBody>
      </p:sp>
      <p:pic>
        <p:nvPicPr>
          <p:cNvPr id="5" name="Image 0" descr="Dashboard_Page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8732520" cy="500522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02920" y="6331105"/>
            <a:ext cx="8732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Power BI dashboard, exported visuals.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9464040" y="1234440"/>
            <a:ext cx="2316175" cy="5005225"/>
          </a:xfrm>
          <a:prstGeom prst="roundRect">
            <a:avLst>
              <a:gd name="adj" fmla="val 3158"/>
            </a:avLst>
          </a:prstGeom>
          <a:solidFill>
            <a:srgbClr val="F3F4F8"/>
          </a:solidFill>
          <a:ln/>
        </p:spPr>
      </p:sp>
      <p:sp>
        <p:nvSpPr>
          <p:cNvPr id="8" name="Text 5"/>
          <p:cNvSpPr/>
          <p:nvPr/>
        </p:nvSpPr>
        <p:spPr>
          <a:xfrm>
            <a:off x="9692640" y="1417320"/>
            <a:ext cx="1858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692640" y="1828800"/>
            <a:ext cx="1858975" cy="42279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●"/>
            </a:pPr>
            <a:r>
              <a:rPr lang="en-US" sz="10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is spread across many companies rather than concentrated in a few — Reynolds American, Takeda and Liberty Mutual post the most openings.</a:t>
            </a:r>
            <a:endParaRPr lang="en-US" sz="1050" dirty="0"/>
          </a:p>
          <a:p>
            <a:pPr marL="342900" indent="-342900">
              <a:lnSpc>
                <a:spcPct val="122000"/>
              </a:lnSpc>
              <a:buSzPct val="100000"/>
              <a:buChar char="●"/>
            </a:pPr>
            <a:r>
              <a:rPr lang="en-US" sz="10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and SQL are the most frequently requested skills, especially for Data Scientist and Data Engineer roles.</a:t>
            </a:r>
            <a:endParaRPr lang="en-US" sz="1050" dirty="0"/>
          </a:p>
          <a:p>
            <a:pPr marL="342900" indent="-342900">
              <a:lnSpc>
                <a:spcPct val="122000"/>
              </a:lnSpc>
              <a:buSzPct val="100000"/>
              <a:buChar char="●"/>
            </a:pPr>
            <a:r>
              <a:rPr lang="en-US" sz="10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 rises with seniority — Data Scientist roles command the highest average pay.</a:t>
            </a:r>
            <a:endParaRPr lang="en-US" sz="1050" dirty="0"/>
          </a:p>
          <a:p>
            <a:pPr marL="342900" indent="-342900">
              <a:lnSpc>
                <a:spcPct val="122000"/>
              </a:lnSpc>
              <a:buSzPct val="100000"/>
              <a:buChar char="●"/>
            </a:pPr>
            <a:r>
              <a:rPr lang="en-US" sz="10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level correlates with pay, though many postings do not specify a required degree (na).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says about hiring demand for data professionals.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23818" cy="2148840"/>
          </a:xfrm>
          <a:prstGeom prst="roundRect">
            <a:avLst>
              <a:gd name="adj" fmla="val 3404"/>
            </a:avLst>
          </a:prstGeom>
          <a:solidFill>
            <a:srgbClr val="F3F4F8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56232"/>
            <a:ext cx="566928" cy="566928"/>
          </a:xfrm>
          <a:prstGeom prst="ellipse">
            <a:avLst/>
          </a:prstGeom>
          <a:solidFill>
            <a:srgbClr val="2B3A67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175" y="1992295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514600"/>
            <a:ext cx="29117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Overall Demand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2898648"/>
            <a:ext cx="29117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742 total job openings tracked, with an average salary of $101.5K across roles.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3938" y="1600200"/>
            <a:ext cx="3423818" cy="2148840"/>
          </a:xfrm>
          <a:prstGeom prst="roundRect">
            <a:avLst>
              <a:gd name="adj" fmla="val 3404"/>
            </a:avLst>
          </a:prstGeom>
          <a:solidFill>
            <a:srgbClr val="F3F4F8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9970" y="1856232"/>
            <a:ext cx="566928" cy="566928"/>
          </a:xfrm>
          <a:prstGeom prst="ellipse">
            <a:avLst/>
          </a:prstGeom>
          <a:solidFill>
            <a:srgbClr val="2B3A67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033" y="1992295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9970" y="2514600"/>
            <a:ext cx="29117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Coastal Hubs Dominate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39970" y="2898648"/>
            <a:ext cx="29117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California, Massachusetts and New York account for the largest share of openings.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27797" y="1600200"/>
            <a:ext cx="3423818" cy="2148840"/>
          </a:xfrm>
          <a:prstGeom prst="roundRect">
            <a:avLst>
              <a:gd name="adj" fmla="val 3404"/>
            </a:avLst>
          </a:prstGeom>
          <a:solidFill>
            <a:srgbClr val="F3F4F8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83829" y="1856232"/>
            <a:ext cx="566928" cy="566928"/>
          </a:xfrm>
          <a:prstGeom prst="ellipse">
            <a:avLst/>
          </a:prstGeom>
          <a:solidFill>
            <a:srgbClr val="2B3A67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892" y="1992295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83829" y="2514600"/>
            <a:ext cx="29117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Scientist Leads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83829" y="2898648"/>
            <a:ext cx="29117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 openings for Data Scientist alone — more than double the next closest role.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423818" cy="2148840"/>
          </a:xfrm>
          <a:prstGeom prst="roundRect">
            <a:avLst>
              <a:gd name="adj" fmla="val 3404"/>
            </a:avLst>
          </a:prstGeom>
          <a:solidFill>
            <a:srgbClr val="F3F4F8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279392"/>
            <a:ext cx="566928" cy="566928"/>
          </a:xfrm>
          <a:prstGeom prst="ellipse">
            <a:avLst/>
          </a:prstGeom>
          <a:solidFill>
            <a:srgbClr val="2B3A67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175" y="4415455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" y="4937760"/>
            <a:ext cx="29117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Biotech &amp; Pharma on Top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96112" y="5321808"/>
            <a:ext cx="29117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Biotech &amp; Pharmaceuticals is the single largest industry hiring data talent.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3938" y="4023360"/>
            <a:ext cx="3423818" cy="2148840"/>
          </a:xfrm>
          <a:prstGeom prst="roundRect">
            <a:avLst>
              <a:gd name="adj" fmla="val 3404"/>
            </a:avLst>
          </a:prstGeom>
          <a:solidFill>
            <a:srgbClr val="F3F4F8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39970" y="4279392"/>
            <a:ext cx="566928" cy="566928"/>
          </a:xfrm>
          <a:prstGeom prst="ellipse">
            <a:avLst/>
          </a:prstGeom>
          <a:solidFill>
            <a:srgbClr val="2B3A67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6033" y="4415455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39970" y="4937760"/>
            <a:ext cx="29117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&amp; SQL Essential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39970" y="5321808"/>
            <a:ext cx="29117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skills appear most frequently across job postings, especially for technical roles.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27797" y="4023360"/>
            <a:ext cx="3423818" cy="2148840"/>
          </a:xfrm>
          <a:prstGeom prst="roundRect">
            <a:avLst>
              <a:gd name="adj" fmla="val 3404"/>
            </a:avLst>
          </a:prstGeom>
          <a:solidFill>
            <a:srgbClr val="F3F4F8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83829" y="4279392"/>
            <a:ext cx="566928" cy="566928"/>
          </a:xfrm>
          <a:prstGeom prst="ellipse">
            <a:avLst/>
          </a:prstGeom>
          <a:solidFill>
            <a:srgbClr val="2B3A67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892" y="4415455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83829" y="4937760"/>
            <a:ext cx="29117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Scales with Education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83829" y="5321808"/>
            <a:ext cx="29117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 trends upward from no degree listed, to Master's, to PhD-level postings.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takeaways for job seekers, recruiters and hiring teams.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72888" cy="1417320"/>
          </a:xfrm>
          <a:prstGeom prst="roundRect">
            <a:avLst>
              <a:gd name="adj" fmla="val 5161"/>
            </a:avLst>
          </a:prstGeom>
          <a:solidFill>
            <a:srgbClr val="2B3A67">
              <a:alpha val="8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80260"/>
            <a:ext cx="640080" cy="640080"/>
          </a:xfrm>
          <a:prstGeom prst="ellipse">
            <a:avLst/>
          </a:prstGeom>
          <a:solidFill>
            <a:srgbClr val="3D5A80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2338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56232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Python &amp; SQL Fluency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45920" y="2240280"/>
            <a:ext cx="40384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remain the baseline skills employers screen for across almost every data role.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78728" y="1691640"/>
            <a:ext cx="5272888" cy="1417320"/>
          </a:xfrm>
          <a:prstGeom prst="roundRect">
            <a:avLst>
              <a:gd name="adj" fmla="val 5161"/>
            </a:avLst>
          </a:prstGeom>
          <a:solidFill>
            <a:srgbClr val="2B3A67">
              <a:alpha val="8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507328" y="2080260"/>
            <a:ext cx="640080" cy="640080"/>
          </a:xfrm>
          <a:prstGeom prst="ellipse">
            <a:avLst/>
          </a:prstGeom>
          <a:solidFill>
            <a:srgbClr val="3D5A80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947" y="22338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84568" y="1856232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High-Demand States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284568" y="2240280"/>
            <a:ext cx="40384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California, Massachusetts and New York offer the most openings and the widest salary bands.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364992"/>
            <a:ext cx="5272888" cy="1417320"/>
          </a:xfrm>
          <a:prstGeom prst="roundRect">
            <a:avLst>
              <a:gd name="adj" fmla="val 5161"/>
            </a:avLst>
          </a:prstGeom>
          <a:solidFill>
            <a:srgbClr val="2B3A67">
              <a:alpha val="88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3753612"/>
            <a:ext cx="640080" cy="640080"/>
          </a:xfrm>
          <a:prstGeom prst="ellipse">
            <a:avLst/>
          </a:prstGeom>
          <a:solidFill>
            <a:srgbClr val="3D5A80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390723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529584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Degrees Pay Off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45920" y="3913632"/>
            <a:ext cx="40384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with a Master's or PhD trend toward meaningfully higher average salaries.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78728" y="3364992"/>
            <a:ext cx="5272888" cy="1417320"/>
          </a:xfrm>
          <a:prstGeom prst="roundRect">
            <a:avLst>
              <a:gd name="adj" fmla="val 5161"/>
            </a:avLst>
          </a:prstGeom>
          <a:solidFill>
            <a:srgbClr val="2B3A67">
              <a:alpha val="88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6507328" y="3753612"/>
            <a:ext cx="640080" cy="640080"/>
          </a:xfrm>
          <a:prstGeom prst="ellipse">
            <a:avLst/>
          </a:prstGeom>
          <a:solidFill>
            <a:srgbClr val="3D5A80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947" y="390723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84568" y="3529584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Beyond Big Names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284568" y="3913632"/>
            <a:ext cx="40384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Openings are spread across many mid-size companies, not just a handful of giants.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5038344"/>
            <a:ext cx="5272888" cy="1417320"/>
          </a:xfrm>
          <a:prstGeom prst="roundRect">
            <a:avLst>
              <a:gd name="adj" fmla="val 5161"/>
            </a:avLst>
          </a:prstGeom>
          <a:solidFill>
            <a:srgbClr val="2B3A67">
              <a:alpha val="88000"/>
            </a:srgbClr>
          </a:solidFill>
          <a:ln/>
        </p:spPr>
      </p:sp>
      <p:sp>
        <p:nvSpPr>
          <p:cNvPr id="25" name="Shape 19"/>
          <p:cNvSpPr/>
          <p:nvPr/>
        </p:nvSpPr>
        <p:spPr>
          <a:xfrm>
            <a:off x="868680" y="5426964"/>
            <a:ext cx="640080" cy="640080"/>
          </a:xfrm>
          <a:prstGeom prst="ellipse">
            <a:avLst/>
          </a:prstGeom>
          <a:solidFill>
            <a:srgbClr val="3D5A80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299" y="5580583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5202936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Specialize Strategically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645920" y="5586984"/>
            <a:ext cx="40384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roles pay the most on average — specialization can outearn broader analyst titles.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78728" y="5038344"/>
            <a:ext cx="5272888" cy="1417320"/>
          </a:xfrm>
          <a:prstGeom prst="roundRect">
            <a:avLst>
              <a:gd name="adj" fmla="val 5161"/>
            </a:avLst>
          </a:prstGeom>
          <a:solidFill>
            <a:srgbClr val="2B3A67">
              <a:alpha val="88000"/>
            </a:srgbClr>
          </a:solidFill>
          <a:ln/>
        </p:spPr>
      </p:sp>
      <p:sp>
        <p:nvSpPr>
          <p:cNvPr id="30" name="Shape 23"/>
          <p:cNvSpPr/>
          <p:nvPr/>
        </p:nvSpPr>
        <p:spPr>
          <a:xfrm>
            <a:off x="6507328" y="5426964"/>
            <a:ext cx="640080" cy="640080"/>
          </a:xfrm>
          <a:prstGeom prst="ellipse">
            <a:avLst/>
          </a:prstGeom>
          <a:solidFill>
            <a:srgbClr val="3D5A80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0947" y="5580583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84568" y="5202936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Biotech &amp; Insurance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284568" y="5586984"/>
            <a:ext cx="40384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industries are hiring data professionals at the highest volume right now.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B3A67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5029200" cy="5029200"/>
          </a:xfrm>
          <a:prstGeom prst="ellipse">
            <a:avLst/>
          </a:prstGeom>
          <a:solidFill>
            <a:srgbClr val="3D5A80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974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Dashboard  ·  Built with Microsoft Power BI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Market Analysis Dashboard</dc:title>
  <dc:subject>PptxGenJS Presentation</dc:subject>
  <dc:creator>Job Market Analysis</dc:creator>
  <cp:lastModifiedBy>Job Market Analysis</cp:lastModifiedBy>
  <cp:revision>1</cp:revision>
  <dcterms:created xsi:type="dcterms:W3CDTF">2026-06-27T05:26:00Z</dcterms:created>
  <dcterms:modified xsi:type="dcterms:W3CDTF">2026-06-27T05:26:00Z</dcterms:modified>
</cp:coreProperties>
</file>